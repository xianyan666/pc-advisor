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960120"/>
            <a:ext cx="10652760" cy="50749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1600200"/>
            <a:ext cx="9601200" cy="6217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3400" b="1">
                <a:solidFill>
                  <a:srgbClr val="194A91"/>
                </a:solidFill>
                <a:latin typeface="Microsoft YaHei"/>
              </a:rPr>
              <a:t>电脑硬件分析推荐系统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2331720"/>
            <a:ext cx="914400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500" b="0">
                <a:solidFill>
                  <a:srgbClr val="5E6F84"/>
                </a:solidFill>
                <a:latin typeface="Microsoft YaHei"/>
              </a:rPr>
              <a:t>软件工程综合课设答辩 | 淡蓝白简约版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74519" y="3063240"/>
            <a:ext cx="2240280" cy="310896"/>
          </a:xfrm>
          <a:prstGeom prst="round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3127248"/>
            <a:ext cx="224028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后端 + 数据库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79" y="3063240"/>
            <a:ext cx="2240280" cy="310896"/>
          </a:xfrm>
          <a:prstGeom prst="round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79" y="3127248"/>
            <a:ext cx="224028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前端 + 项目管理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35240" y="3063240"/>
            <a:ext cx="2240280" cy="310896"/>
          </a:xfrm>
          <a:prstGeom prst="round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35240" y="3127248"/>
            <a:ext cx="224028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APP 端 + 报告撰写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069080"/>
            <a:ext cx="9052560" cy="64008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600" b="1">
                <a:solidFill>
                  <a:srgbClr val="194A91"/>
                </a:solidFill>
                <a:latin typeface="Microsoft YaHei"/>
              </a:rPr>
              <a:t>系统目标：围绕电脑硬件选购场景，完成硬件信息管理、排行比较、个性化推荐、评测社区、管理员审核与 Android 移动端访问。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01 系统完整描述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先说明业务闭环，再展开三位同学负责的实现部分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389888"/>
            <a:ext cx="338328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389888"/>
            <a:ext cx="338328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9105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用户侧做什么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56816"/>
            <a:ext cx="3017520" cy="377647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注册登录后进入系统，浏览 CPU、显卡、主板等硬件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查看硬件详情、价格、品牌、型号和图片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按榜单比较硬件性价比，按需求生成推荐配置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收藏硬件，发布评测和评论，形成用户反馈内容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389888"/>
            <a:ext cx="338328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389888"/>
            <a:ext cx="338328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59105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管理侧做什么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1956816"/>
            <a:ext cx="3017520" cy="377647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管理员登录后进入独立后台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维护硬件基础数据和不同类型的专属参数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审核用户发布的评测和评论，保证内容质量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查看系统统计数据，掌握硬件和社区内容情况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389888"/>
            <a:ext cx="3383280" cy="44348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389888"/>
            <a:ext cx="338328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591056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系统逻辑是什么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956816"/>
            <a:ext cx="3017520" cy="377647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前端负责交互和页面展示，后端负责业务规则和数据接口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MySQL 保存用户、硬件、评测、评论、收藏和媒体资源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推荐算法先筛选可用候选，再按偏好打分排序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APP 复用 Web 页面，通过局域网访问同一套后端服务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02 总体架构与数据流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一套后端和数据库同时支撑 Web 端、管理端和 Android 端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75104"/>
            <a:ext cx="1737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用户 Web 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304288"/>
            <a:ext cx="1700784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Vue 页面交互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92024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300984"/>
            <a:ext cx="173736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Android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3630168"/>
            <a:ext cx="1700784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WebView 加载本地资源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248716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633472"/>
            <a:ext cx="1874519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Axios / API 请求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84448" y="2962656"/>
            <a:ext cx="1837943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携带 JWT Token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2487168"/>
            <a:ext cx="20116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2633472"/>
            <a:ext cx="18288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Spring Boot 后端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81928" y="2962656"/>
            <a:ext cx="1792224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Controller / Service / Mapper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15400" y="2487168"/>
            <a:ext cx="20574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633472"/>
            <a:ext cx="1874519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MySQL 数据库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25128" y="2962656"/>
            <a:ext cx="1837943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pcadvisor 数据库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51760" y="2304288"/>
            <a:ext cx="822960" cy="457200"/>
          </a:xfrm>
          <a:prstGeom prst="line">
            <a:avLst/>
          </a:prstGeom>
          <a:ln w="17780">
            <a:solidFill>
              <a:srgbClr val="32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651760" y="2944368"/>
            <a:ext cx="822960" cy="667512"/>
          </a:xfrm>
          <a:prstGeom prst="line">
            <a:avLst/>
          </a:prstGeom>
          <a:ln w="17780">
            <a:solidFill>
              <a:srgbClr val="32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32120" y="2971800"/>
            <a:ext cx="640080" cy="0"/>
          </a:xfrm>
          <a:prstGeom prst="line">
            <a:avLst/>
          </a:prstGeom>
          <a:ln w="17780">
            <a:solidFill>
              <a:srgbClr val="32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8183879" y="2971800"/>
            <a:ext cx="731521" cy="0"/>
          </a:xfrm>
          <a:prstGeom prst="line">
            <a:avLst/>
          </a:prstGeom>
          <a:ln w="17780">
            <a:solidFill>
              <a:srgbClr val="32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868680" y="4800600"/>
            <a:ext cx="1037844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" y="4800600"/>
            <a:ext cx="1037844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69848" y="5001768"/>
            <a:ext cx="1001268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架构说明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367528"/>
            <a:ext cx="10012680" cy="25603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普通用户、管理员和 APP 使用的是同一套后端接口，因此数据一致；前端只负责展示和交互，核心业务规则集中在后端。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F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Microsoft YaHei"/>
              </a:rPr>
              <a:t>后端 + 数据库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52928"/>
            <a:ext cx="98755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350" b="0">
                <a:solidFill>
                  <a:srgbClr val="DCEBFF"/>
                </a:solidFill>
                <a:latin typeface="Microsoft YaHei"/>
              </a:rPr>
              <a:t>负责接口、业务逻辑、权限控制、数据库模型和推荐排行算法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架构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数据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算法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后端做了什么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按 Controller、Service、Mapper 分层实现业务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342900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52704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接口层 Controller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92807"/>
            <a:ext cx="306324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AuthController：登录、注册、登出、用户名/邮箱检查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HelloController：硬件列表、评测列表等公开接口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RecommendationController：接收需求并返回推荐结果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RankingController：生成 CPU、显卡、主板榜单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AdminController：硬件管理、评测审核、评论审核、统计数据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325880"/>
            <a:ext cx="342900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325880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52704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业务层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92807"/>
            <a:ext cx="306324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AuthService / UserService：用户认证和资料处理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RecommendationService：配置推荐核心逻辑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安全工具类：JWT 生成、解析和校验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异常处理：统一返回错误码和错误信息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25880"/>
            <a:ext cx="342900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325880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52704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数据访问层 Mapper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892807"/>
            <a:ext cx="306324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基于 MyBatis-Plus 操作 MySQL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按实体类映射用户、硬件、评测、评论等表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使用 QueryWrapper 构造条件查询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降低手写 SQL 成本，提高开发效率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数据库做了什么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核心是把硬件领域对象抽象为可维护的数据模型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8016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80160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8132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用户与权限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4708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sys_user 保存登录账号、密码和角色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OrdinaryUser 保存普通用户扩展资料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Administrator 保存管理员部门和等级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配合 JWT 和 Spring Security 实现分权访问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8016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8132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硬件数据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4708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Hardware_Inf 保存硬件通用字段：名称、品牌、型号、价格、审核状态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CPU_Inf 保存核心数、线程数、频率、接口等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GraphicsCard_Inf 保存显存、功耗、长度等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Motherboard_Inf 保存板型、内存插槽、M.2 插槽等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8016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8132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社区与资源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84708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Evaluation 保存评测标题、体验、优缺点和审核状态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Comment 保存评测评论及审核状态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Collect 保存用户收藏关系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Media_Inf 保存图片路径，并关联硬件、评测或评论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989320"/>
            <a:ext cx="10515600" cy="29260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20" b="1">
                <a:solidFill>
                  <a:srgbClr val="194A91"/>
                </a:solidFill>
                <a:latin typeface="Microsoft YaHei"/>
              </a:rPr>
              <a:t>逻辑：公共字段放主表，不同硬件的专属参数放详情表，避免一张大表字段冗余，也方便后续扩展内存、硬盘、电源等类型。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推荐算法与安全逻辑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算法解决“怎么推荐”，安全解决“谁能访问”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257800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7276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推荐逻辑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938528"/>
            <a:ext cx="4892040" cy="373075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输入：用途、预算、品牌偏好、核心数、接口、板型等条件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第一步：从审核通过的硬件中取候选数据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第二步：按预算、用途和兼容性进行硬性筛选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第三步：按品牌、系列、板型等软性条件打分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第四步：按得分和价格排序，返回 Top 推荐组合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257800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2578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57276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安全逻辑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938528"/>
            <a:ext cx="4892040" cy="373075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用户登录后生成 JWT Token，前端请求自动携带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后端过滤器解析 Token 并设置当前用户身份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管理员接口限制为 ADMIN 角色访问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上传文件限制类型和大小，避免非法资源进入系统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MyBatis-Plus 参数化查询降低 SQL 注入风险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F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Microsoft YaHei"/>
              </a:rPr>
              <a:t>前端 + 项目管理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52928"/>
            <a:ext cx="98755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350" b="0">
                <a:solidFill>
                  <a:srgbClr val="DCEBFF"/>
                </a:solidFill>
                <a:latin typeface="Microsoft YaHei"/>
              </a:rPr>
              <a:t>负责页面交互、路由状态、接口联调、进度管理和功能验收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页面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联调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进度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前端做了什么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围绕普通用户和管理员两条使用路径组织页面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261872"/>
            <a:ext cx="3429000" cy="4617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261872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1463039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普通用户页面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1828800"/>
            <a:ext cx="3063240" cy="395935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LoginView / RegisterView：登录注册与表单校验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HomeView：首页推荐入口、分类入口和评测入口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HardwareView / DetailView：硬件列表、筛选、详情、收藏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RankingView / RecommendView：榜单查看和需求推荐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EvaluationsView / UserView：评测社区和个人中心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61872"/>
            <a:ext cx="3429000" cy="4617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61872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63039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管理员页面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28800"/>
            <a:ext cx="3063240" cy="395935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AdminLayout：后台整体布局和菜单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AdminDashboard：硬件、评测、评论等统计数据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AdminHardware：硬件增删改查和分类参数维护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AdminAudit：评测与评论的通过、驳回、删除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261872"/>
            <a:ext cx="3429000" cy="46177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38160" y="1261872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1463039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交互体验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1828800"/>
            <a:ext cx="3063240" cy="395935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使用 Vue Router 管理页面跳转和权限路由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使用 Pinia 保存登录状态和用户角色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使用 Axios 封装 API 请求和错误处理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图片、图表、弹窗和响应式布局提升展示效果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前后端联调逻辑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前端负责把用户操作转成 API 请求，后端返回结构化结果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18288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975104"/>
            <a:ext cx="164592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用户操作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304288"/>
            <a:ext cx="1609344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点击、筛选、提交表单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54680" y="18288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975104"/>
            <a:ext cx="164592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页面状态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64408" y="2304288"/>
            <a:ext cx="1609344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Vue ref / Pinia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2120" y="18288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23559" y="1975104"/>
            <a:ext cx="164592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API 封装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41848" y="2304288"/>
            <a:ext cx="1609344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Axios request.ts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09560" y="1828800"/>
            <a:ext cx="182880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1000" y="1975104"/>
            <a:ext cx="164592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后端接口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19288" y="2304288"/>
            <a:ext cx="1609344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REST API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058400" y="1828800"/>
            <a:ext cx="150876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49840" y="1975104"/>
            <a:ext cx="13258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150" b="1">
                <a:solidFill>
                  <a:srgbClr val="194A91"/>
                </a:solidFill>
                <a:latin typeface="Microsoft YaHei"/>
              </a:rPr>
              <a:t>页面更新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68128" y="2304288"/>
            <a:ext cx="1289304" cy="2286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0">
                <a:solidFill>
                  <a:srgbClr val="5E6F84"/>
                </a:solidFill>
                <a:latin typeface="Microsoft YaHei"/>
              </a:rPr>
              <a:t>渲染结果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606040" y="2304288"/>
            <a:ext cx="548640" cy="0"/>
          </a:xfrm>
          <a:prstGeom prst="line">
            <a:avLst/>
          </a:prstGeom>
          <a:ln w="17780">
            <a:solidFill>
              <a:srgbClr val="32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4983480" y="2304288"/>
            <a:ext cx="548640" cy="0"/>
          </a:xfrm>
          <a:prstGeom prst="line">
            <a:avLst/>
          </a:prstGeom>
          <a:ln w="17780">
            <a:solidFill>
              <a:srgbClr val="32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360920" y="2304288"/>
            <a:ext cx="548640" cy="0"/>
          </a:xfrm>
          <a:prstGeom prst="line">
            <a:avLst/>
          </a:prstGeom>
          <a:ln w="17780">
            <a:solidFill>
              <a:srgbClr val="32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738360" y="2304288"/>
            <a:ext cx="548640" cy="0"/>
          </a:xfrm>
          <a:prstGeom prst="line">
            <a:avLst/>
          </a:prstGeom>
          <a:ln w="17780">
            <a:solidFill>
              <a:srgbClr val="3280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731520" y="3703320"/>
            <a:ext cx="342900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31520" y="3703320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" y="3904487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登录状态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88" y="4270248"/>
            <a:ext cx="3063240" cy="94183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Token 存入 localStorage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请求拦截器自动加 Authorization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响应 401/403 时清理状态并跳转登录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89120" y="3703320"/>
            <a:ext cx="342900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89120" y="3703320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0288" y="3904487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开发联调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90288" y="4270248"/>
            <a:ext cx="3063240" cy="94183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Vite 开发服务器负责前端热更新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/api 请求代理到 Spring Boot 后端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减少跨域问题，提高调试效率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3703320"/>
            <a:ext cx="342900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46720" y="3703320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3904487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权限路由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4270248"/>
            <a:ext cx="3063240" cy="94183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普通用户访问用户页面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管理员登录后进入 /admin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未登录访问受保护页面会跳转登录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项目管理做了什么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把开发过程拆成阶段，并用文档和日志留下证据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8328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338328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3560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计划与分工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8"/>
            <a:ext cx="301752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项目计划明确范围、目标、过程模型和进度安排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三位成员按后端数据库、前端项目管理、APP报告分工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开发中按模块推进，避免全部功能堆到最后联调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38328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338328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43560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过程控制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801368"/>
            <a:ext cx="301752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需求获取和需求分析先确定功能边界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系统设计和数据库设计再确定结构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编码阶段按登录、硬件、推荐、评测、后台、APP 逐步完成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build log 记录每日迭代和问题修复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338328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234440"/>
            <a:ext cx="338328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3560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验收准备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801368"/>
            <a:ext cx="301752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系统测试计划覆盖功能、性能、安全、兼容性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结项报告总结完成情况、技术栈和不足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答辩 PPT 按成员分工组织，便于现场回答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4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2F86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48840"/>
            <a:ext cx="10515600" cy="5486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3100" b="1">
                <a:solidFill>
                  <a:srgbClr val="FFFFFF"/>
                </a:solidFill>
                <a:latin typeface="Microsoft YaHei"/>
              </a:rPr>
              <a:t>APP 端 + 报告撰写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852928"/>
            <a:ext cx="9875520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350" b="0">
                <a:solidFill>
                  <a:srgbClr val="DCEBFF"/>
                </a:solidFill>
                <a:latin typeface="Microsoft YaHei"/>
              </a:rPr>
              <a:t>负责 Android 封装、局域网访问、文档整理和工程证据链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移动端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5780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5780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文档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3675887"/>
            <a:ext cx="1371600" cy="310896"/>
          </a:xfrm>
          <a:prstGeom prst="roundRect">
            <a:avLst/>
          </a:prstGeom>
          <a:solidFill>
            <a:srgbClr val="5FB3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3739896"/>
            <a:ext cx="13716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验收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APP 端做了什么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Android WebView 复用 Web 前端，让系统具备移动访问能力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325880"/>
            <a:ext cx="342900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25880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52704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实现方式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92807"/>
            <a:ext cx="306324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使用 Kotlin + Android WebView 开发 APP 外壳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将 Vue 构建产物复制到 assets/www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APP 启动后加载本地 index.html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不重复开发一套原生页面，减少工作量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325880"/>
            <a:ext cx="342900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07408" y="1325880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8576" y="152704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通信逻辑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1892807"/>
            <a:ext cx="306324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本地页面负责展示，后端数据仍来自 Spring Boot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用户在设置页配置服务器 IP 和端口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WebView 拦截 /api/* 请求并转发到局域网后端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图片资源也从后端静态资源路径读取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325880"/>
            <a:ext cx="342900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325880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52704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为什么合理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892807"/>
            <a:ext cx="306324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Web 端功能已经完整，复用能保证双端一致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课程项目重在完整流程和可运行系统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WebView 性能足够支撑浏览、推荐、评测等场景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局限：原生体验和离线能力仍可继续增强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报告撰写做了什么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报告负责证明：不是只写代码，而是按软件工程方法完成系统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234440"/>
            <a:ext cx="338328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34440"/>
            <a:ext cx="338328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43560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前期文档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1801368"/>
            <a:ext cx="301752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开题报告：说明背景、目标、意义和双端设想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需求获取报告：明确用户角色、功能需求和约束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需求分析报告：建立类图、行为模型和验收依据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1234440"/>
            <a:ext cx="338328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1234440"/>
            <a:ext cx="338328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143560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设计文档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1801368"/>
            <a:ext cx="301752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系统设计报告：说明页面、模块和事务逻辑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数据库设计报告：说明表结构、命名规范和安全优化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文档内容与代码模块对应，避免只停留在概念层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79" y="1234440"/>
            <a:ext cx="338328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83879" y="1234440"/>
            <a:ext cx="338328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5048" y="1435608"/>
            <a:ext cx="301752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后期文档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5048" y="1801368"/>
            <a:ext cx="3017520" cy="386791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系统测试计划：覆盖功能、健壮性、性能、安全和兼容性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结项报告：总结完成情况、成果、测试和改进方向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开发日志：补充说明每日迭代过程和问题解决记录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四份报告补充 1：项目计划支撑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用项目计划说明范围、目标、工具、分工和进度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234440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项目范围与目标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范围：Web + Android 双端硬件推荐系统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包含：用户认证、硬件数据库、排行算法、推荐算法、评测评论、收藏、管理员后台、Android APP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不包含：在线支付、库存管理、物流跟踪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目标：11 个功能页面、APK &lt; 10MB、推荐计算 &lt; 2s、API 响应 &lt; 500ms、完成 8 份文档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过程模型与工具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采用 SPP 精简并行过程的迭代开发模型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需求阶段：调研、竞品分析、需求报告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设计阶段：架构设计、技术选型、数据库设计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开发阶段：后端 API、前端页面、Android APP 分模块迭代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工具：Git/GitHub、Spring Boot、Vue 3、MySQL、Postman、Android Studio、Draw.io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234440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人员分工与进度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李锦轩：项目经理/后端开发/数据库设计，贡献 40%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李俊泽：前端开发/测试/接口联调，贡献 30%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黄国政：Android 开发/文档/系统测试，贡献 30%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进度按需求、设计、开发、测试、交付推进，最终在 2026 年 5 月完成验收材料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四份报告补充 2：数据库设计支撑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数据库报告把系统对象、表结构、规范和安全策略讲清楚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234440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数据库环境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数据库系统：MySQL 8.0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数据库名称：pcadvisor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字符集：utf8mb4，支持中文和 Emoji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地址：localhost:3306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ORM：MyBatis-Plus 3.5.5 + Spring Data JPA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引擎：InnoDB，支持事务和约束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核心实体与关系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用户体系：sys_user、OrdinaryUser、Administrator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硬件体系：Hardware_Inf、CPU_Inf、GraphicsCard_Inf、Motherboard_Inf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UGC 体系：Evaluation、Comment、Collect、Media_Inf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关键关系：用户与身份一对一，硬件主表与类型详情表一对一，硬件与评测一对多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234440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规范与安全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命名规范：idx_ 表示索引，uk_ 表示唯一约束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主表字段使用下划线，用户表兼容 camelCase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应用层隔离：用户不能直接操作数据库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参数化查询和 ORM 映射降低 SQL 注入风险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密码字段使用加密存储，角色字段区分 ADMIN/ORDINARY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四份报告补充 3：系统测试计划支撑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测试计划说明系统如何证明“能正常运行”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234440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测试范围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功能测试：注册登录、Token、硬件浏览、排行、推荐、评测、评论、收藏、管理员 CRUD、审核、上传、APP 代理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健壮性测试：空值、超长文本、非法 Token、过期 Token、大文件上传拒绝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UI 测试：Web 响应式、Android WebView、弹窗、图表、图片灯箱、后台主题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测试方法与环境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黑盒测试：基于需求规格覆盖功能点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白盒测试：针对推荐算法、JWT、密码加密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集成测试：验证 Controller 完整请求响应链路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环境：Windows 11、JDK 21、Spring Boot 3.2.2、MySQL 8.0.36、Vue 3、Node.js 22、Android SDK 35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234440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完成准则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核心功能测试通过率达到 100%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非功能测试通过率不低于 95%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无 P0/P1 级缺陷，不出现系统崩溃、数据丢失或严重安全漏洞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回归测试通过，已修复问题不再次出现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性能目标：API &lt; 500ms，推荐 &lt; 2s，5MB 内图片上传 &lt; 3s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四份报告补充 4：结项报告支撑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结项报告证明最终完成了哪些成果，以及有哪些经验教训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" y="1234440"/>
            <a:ext cx="34290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完成成果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需求分析：整理功能需求 22 项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数据库：完成 11 张表，采用主表 + 详情子表架构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后端：9 个 Controller，30+ 个 API 接口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前端：11 个 Vue 页面组件，支持响应式布局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Android：完成 WebView APP，APK 约 6.9MB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文档：完成 8 份规范技术文档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34440"/>
            <a:ext cx="34290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90288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质量评价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正确性：核心功能经人工测试符合预期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健壮性：全局异常处理覆盖认证、授权、业务和资源场景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安全性：BCrypt、JWT、Spring Security、参数化 SQL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扩展性：硬件类型通过枚举和详情表扩展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兼容性：Chrome/Firefox/Edge 与 Android WebView API 24+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6448" y="1234440"/>
            <a:ext cx="3429000" cy="455371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1234440"/>
            <a:ext cx="34290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435608"/>
            <a:ext cx="30632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320" b="1">
                <a:solidFill>
                  <a:srgbClr val="194A91"/>
                </a:solidFill>
                <a:latin typeface="Microsoft YaHei"/>
              </a:rPr>
              <a:t>经验教训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57616" y="1801368"/>
            <a:ext cx="3063240" cy="3895344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技术选型要提前验证兼容性，尤其是 WebView 与 ES Module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前后端分离需要尽早统一错误码和响应格式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文件上传要注意 Windows/Linux 框架行为差异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数据库主表 + 子表模式比单一宽表更适合硬件领域</a:t>
            </a:r>
          </a:p>
          <a:p>
            <a:pPr>
              <a:spcAft>
                <a:spcPts val="400"/>
              </a:spcAft>
            </a:pPr>
            <a:r>
              <a:rPr sz="1050" b="0">
                <a:solidFill>
                  <a:srgbClr val="233044"/>
                </a:solidFill>
                <a:latin typeface="Microsoft YaHei"/>
              </a:rPr>
              <a:t>• 文档要与开发同步，避免后期集中赶工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自设答辩问题 1：后端与数据库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问题要答到“原因 + 实现 + 效果”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3444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43560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Q1：为什么数据库采用“硬件主表 + 类型详情表”？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0136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A：硬件都有名称、品牌、型号、价格等公共字段，但 CPU、显卡、主板的参数完全不同。公共字段放 Hardware_Inf，专属字段放 CPU_Inf、GraphicsCard_Inf、Motherboard_Inf，可以减少空字段和冗余，也方便后续扩展更多硬件类型。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2578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43560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Q2：推荐算法的逻辑是什么？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80136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A：先从审核通过的硬件中取候选，再用预算、用途、兼容性等硬性条件过滤，最后按品牌、系列、板型等软性偏好打分排序，返回匹配度最高的结果。这样既保证推荐可用，又体现个性化。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9476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94760"/>
            <a:ext cx="52578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99592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Q3：后端如何保证权限安全？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36168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A：登录成功后生成 JWT，前端请求时自动携带；后端过滤器解析 Token 并识别用户身份。普通用户访问个人中心和评测功能，管理员才能访问 /api/admin 下的管理接口。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9476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99592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Q4：数据库实际部署在哪里？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36168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A：项目连接本机 MySQL，配置地址是 jdbc:mysql://localhost:3306/pcadvisor。实际数据目录在 D:\MySQL\MySQL Server 8.0\Data\pcadvisor。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自设答辩问题 2：前端与项目管理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突出用户体验、联调方式和进度控制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3444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43560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Q1：前端如何和后端交互？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0136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A：前端通过 Axios 请求 REST API。request.ts 统一处理 baseURL、Token、错误响应；开发环境中 Vite 把 /api 代理到 Spring Boot，解决跨域和联调问题。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2578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43560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Q2：用户和管理员页面如何区分？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80136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A：Vue Router 根据路由和角色控制访问。普通用户进入首页、硬件、排行、推荐、评测、个人中心；管理员登录后进入 /admin 后台，进行硬件管理和内容审核。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9476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94760"/>
            <a:ext cx="52578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99592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Q3：项目进度如何体现？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36168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A：项目计划中有阶段划分，build log 记录每日开发进展；结项报告总结实际完成情况。实际流程基本按需求、设计、编码、测试、交付推进。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9476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99592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Q4：前端最能现场展示什么？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36168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A：可以展示登录注册、硬件筛选和详情、排行页面、推荐页面、发布评测、个人收藏，以及管理员后台的硬件管理和评测审核。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自设答辩问题 3：APP 与报告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说明选择依据、局限性和文档质量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23444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23444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43560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Q1：为什么 APP 端选择 WebView？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80136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A：因为 Web 端功能已经完整，WebView 可以复用页面，保证双端一致并减少重复开发。对于硬件浏览、推荐、评测这类信息系统，WebView 的性能和体验基本满足课程项目需求。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23444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234440"/>
            <a:ext cx="52578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43560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Q2：APP 如何连接后端？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80136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A：APP 加载本地前端资源，数据请求通过 /api/* 转发到局域网中的 Spring Boot 后端。用户可以在设置页配置服务器 IP 和端口，并进行连接测试。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79476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3794760"/>
            <a:ext cx="52578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99592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Q3：报告如何体现软件工程过程？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436168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A：文档覆盖开题、需求获取、需求分析、系统设计、数据库设计、测试计划和结项报告，能从问题提出追溯到设计、实现和测试验证。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5257800" cy="1965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379476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99592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80" b="1">
                <a:solidFill>
                  <a:srgbClr val="194A91"/>
                </a:solidFill>
                <a:latin typeface="Microsoft YaHei"/>
              </a:rPr>
              <a:t>Q4：项目还有哪些不足？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4361688"/>
            <a:ext cx="4892040" cy="13075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1019" b="0">
                <a:solidFill>
                  <a:srgbClr val="233044"/>
                </a:solidFill>
                <a:latin typeface="Microsoft YaHei"/>
              </a:rPr>
              <a:t>• A：推荐算法目前主要基于规则和静态数据，后续可以接入实时价格和真实性能跑分；APP 端也可以增加离线缓存、通知和扫码比价等原生能力。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429768"/>
            <a:ext cx="8961120" cy="34747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2300" b="1">
                <a:solidFill>
                  <a:srgbClr val="194A91"/>
                </a:solidFill>
                <a:latin typeface="Microsoft YaHei"/>
              </a:rPr>
              <a:t>课程目标对应说明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216" y="804672"/>
            <a:ext cx="10241280" cy="2468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050" b="0">
                <a:solidFill>
                  <a:srgbClr val="5E6F84"/>
                </a:solidFill>
                <a:latin typeface="Microsoft YaHei"/>
              </a:rPr>
              <a:t>把验收目标和工程证据一一对应</a:t>
            </a:r>
          </a:p>
        </p:txBody>
      </p:sp>
      <p:sp>
        <p:nvSpPr>
          <p:cNvPr id="7" name="Rectangle 6"/>
          <p:cNvSpPr/>
          <p:nvPr/>
        </p:nvSpPr>
        <p:spPr>
          <a:xfrm>
            <a:off x="585216" y="1124712"/>
            <a:ext cx="1143000" cy="4572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8368" y="1143000"/>
            <a:ext cx="5257800" cy="1280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14300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34416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50" b="1">
                <a:solidFill>
                  <a:srgbClr val="194A91"/>
                </a:solidFill>
                <a:latin typeface="Microsoft YaHei"/>
              </a:rPr>
              <a:t>目标 1：设计满足需求的解决方案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1709928"/>
            <a:ext cx="4892040" cy="6217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980" b="0">
                <a:solidFill>
                  <a:srgbClr val="233044"/>
                </a:solidFill>
                <a:latin typeface="Microsoft YaHei"/>
              </a:rPr>
              <a:t>• 体现：围绕硬件选购难题设计硬件库、排行、推荐、评测社区和审核后台；结合硬件领域参数设计数据模型。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143000"/>
            <a:ext cx="5257800" cy="1280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143000"/>
            <a:ext cx="5257800" cy="91440"/>
          </a:xfrm>
          <a:prstGeom prst="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7" y="134416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50" b="1">
                <a:solidFill>
                  <a:srgbClr val="194A91"/>
                </a:solidFill>
                <a:latin typeface="Microsoft YaHei"/>
              </a:rPr>
              <a:t>目标 2：完成软件工程全过程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7" y="1709928"/>
            <a:ext cx="4892040" cy="6217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980" b="0">
                <a:solidFill>
                  <a:srgbClr val="233044"/>
                </a:solidFill>
                <a:latin typeface="Microsoft YaHei"/>
              </a:rPr>
              <a:t>• 体现：需求获取、需求分析、系统设计、数据库设计、编码实现、测试计划和结项报告完整存在。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2971800"/>
            <a:ext cx="5257800" cy="1280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2971800"/>
            <a:ext cx="5257800" cy="91440"/>
          </a:xfrm>
          <a:prstGeom prst="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" y="317296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50" b="1">
                <a:solidFill>
                  <a:srgbClr val="194A91"/>
                </a:solidFill>
                <a:latin typeface="Microsoft YaHei"/>
              </a:rPr>
              <a:t>目标 3：使用现代工具和平台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" y="3538728"/>
            <a:ext cx="4892040" cy="6217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980" b="0">
                <a:solidFill>
                  <a:srgbClr val="233044"/>
                </a:solidFill>
                <a:latin typeface="Microsoft YaHei"/>
              </a:rPr>
              <a:t>• 体现：Spring Boot、MySQL、MyBatis-Plus、Vue 3、TypeScript、Vite、Android WebView 等技术协同使用。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71800"/>
            <a:ext cx="5257800" cy="12801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971800"/>
            <a:ext cx="5257800" cy="91440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64807" y="3172968"/>
            <a:ext cx="4892040" cy="25603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1250" b="1">
                <a:solidFill>
                  <a:srgbClr val="194A91"/>
                </a:solidFill>
                <a:latin typeface="Microsoft YaHei"/>
              </a:rPr>
              <a:t>目标 4：小组协作完成开发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64807" y="3538728"/>
            <a:ext cx="4892040" cy="621792"/>
          </a:xfrm>
          <a:prstGeom prst="rect">
            <a:avLst/>
          </a:prstGeom>
          <a:noFill/>
        </p:spPr>
        <p:txBody>
          <a:bodyPr wrap="square" lIns="27432">
            <a:spAutoFit/>
          </a:bodyPr>
          <a:lstStyle/>
          <a:p>
            <a:pPr>
              <a:spcAft>
                <a:spcPts val="400"/>
              </a:spcAft>
            </a:pPr>
            <a:r>
              <a:rPr sz="980" b="0">
                <a:solidFill>
                  <a:srgbClr val="233044"/>
                </a:solidFill>
                <a:latin typeface="Microsoft YaHei"/>
              </a:rPr>
              <a:t>• 体现：三位成员分工明确，开发日志和结项报告记录了阶段成果与协作过程。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5303520"/>
            <a:ext cx="10332720" cy="4572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400" b="1">
                <a:solidFill>
                  <a:srgbClr val="194A91"/>
                </a:solidFill>
                <a:latin typeface="Microsoft YaHei"/>
              </a:rPr>
              <a:t>答辩主线：我们不是只做了页面，而是从需求、设计、数据库、后端、前端、APP、测试和文档交付完整走了一遍软件开发过程。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740896" y="0"/>
            <a:ext cx="164592" cy="6858000"/>
          </a:xfrm>
          <a:prstGeom prst="rect">
            <a:avLst/>
          </a:prstGeom>
          <a:solidFill>
            <a:srgbClr val="D5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051560"/>
            <a:ext cx="10378440" cy="4937760"/>
          </a:xfrm>
          <a:prstGeom prst="roundRect">
            <a:avLst/>
          </a:prstGeom>
          <a:solidFill>
            <a:srgbClr val="FFFFFF"/>
          </a:solidFill>
          <a:ln>
            <a:solidFill>
              <a:srgbClr val="B9D3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08760" y="1691640"/>
            <a:ext cx="9144000" cy="47548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2900" b="1">
                <a:solidFill>
                  <a:srgbClr val="194A91"/>
                </a:solidFill>
                <a:latin typeface="Microsoft YaHei"/>
              </a:rPr>
              <a:t>总结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2468880"/>
            <a:ext cx="8595360" cy="114300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600" b="0">
                <a:solidFill>
                  <a:srgbClr val="233044"/>
                </a:solidFill>
                <a:latin typeface="Microsoft YaHei"/>
              </a:rPr>
              <a:t>本系统以电脑硬件选购为具体场景，完成了 Web 端、后端、数据库、Android APP 和软件工程文档。系统逻辑清晰：前端负责交互，后端负责业务，数据库负责持久化，APP 复用 Web 成果，报告负责证明开发过程。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20240" y="4160520"/>
            <a:ext cx="1600200" cy="310896"/>
          </a:xfrm>
          <a:prstGeom prst="roundRect">
            <a:avLst/>
          </a:prstGeom>
          <a:solidFill>
            <a:srgbClr val="328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20240" y="4224528"/>
            <a:ext cx="16002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功能闭环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23360" y="4160520"/>
            <a:ext cx="1600200" cy="310896"/>
          </a:xfrm>
          <a:prstGeom prst="roundRect">
            <a:avLst/>
          </a:prstGeom>
          <a:solidFill>
            <a:srgbClr val="47B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4224528"/>
            <a:ext cx="16002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技术完整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79" y="4160520"/>
            <a:ext cx="1600200" cy="310896"/>
          </a:xfrm>
          <a:prstGeom prst="roundRect">
            <a:avLst/>
          </a:prstGeom>
          <a:solidFill>
            <a:srgbClr val="269F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79" y="4224528"/>
            <a:ext cx="16002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分工明确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160520"/>
            <a:ext cx="1600200" cy="310896"/>
          </a:xfrm>
          <a:prstGeom prst="roundRect">
            <a:avLst/>
          </a:prstGeom>
          <a:solidFill>
            <a:srgbClr val="194A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4224528"/>
            <a:ext cx="1600200" cy="164592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919" b="1">
                <a:solidFill>
                  <a:srgbClr val="FFFFFF"/>
                </a:solidFill>
                <a:latin typeface="Microsoft YaHei"/>
              </a:rPr>
              <a:t>文档可追溯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5532120"/>
            <a:ext cx="3749039" cy="320040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ctr"/>
            <a:r>
              <a:rPr sz="1800" b="1">
                <a:solidFill>
                  <a:srgbClr val="194A91"/>
                </a:solidFill>
                <a:latin typeface="Microsoft YaHei"/>
              </a:rPr>
              <a:t>谢谢老师，请批评指正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" y="6510528"/>
            <a:ext cx="502920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l"/>
            <a:r>
              <a:rPr sz="850" b="0">
                <a:solidFill>
                  <a:srgbClr val="5E6F84"/>
                </a:solidFill>
                <a:latin typeface="Microsoft YaHei"/>
              </a:rPr>
              <a:t>电脑硬件分析推荐系统 | 软件工程综合课设答辩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square" anchor="t" lIns="36576" rIns="36576">
            <a:spAutoFit/>
          </a:bodyPr>
          <a:lstStyle/>
          <a:p>
            <a:pPr algn="r"/>
            <a:r>
              <a:rPr sz="850" b="1">
                <a:solidFill>
                  <a:srgbClr val="194A91"/>
                </a:solidFill>
                <a:latin typeface="Microsoft YaHei"/>
              </a:rPr>
              <a:t>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